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Lora" panose="020B0604020202020204" charset="0"/>
      <p:regular r:id="rId13"/>
    </p:embeddedFont>
    <p:embeddedFont>
      <p:font typeface="Open Sans Bold" panose="020B0604020202020204" charset="0"/>
      <p:regular r:id="rId14"/>
    </p:embeddedFont>
    <p:embeddedFont>
      <p:font typeface="Heebo" panose="020B0604020202020204" charset="-79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nva Sans" panose="020B0604020202020204" charset="0"/>
      <p:regular r:id="rId20"/>
    </p:embeddedFont>
    <p:embeddedFont>
      <p:font typeface="Open San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11F"/>
    <a:srgbClr val="3D6115"/>
    <a:srgbClr val="009E00"/>
    <a:srgbClr val="002E00"/>
    <a:srgbClr val="339966"/>
    <a:srgbClr val="008000"/>
    <a:srgbClr val="056713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22" autoAdjust="0"/>
  </p:normalViewPr>
  <p:slideViewPr>
    <p:cSldViewPr>
      <p:cViewPr>
        <p:scale>
          <a:sx n="50" d="100"/>
          <a:sy n="50" d="100"/>
        </p:scale>
        <p:origin x="116" y="-7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37920" y="-4456511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392680" y="9795226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172416" y="1520628"/>
            <a:ext cx="3943168" cy="2628779"/>
          </a:xfrm>
          <a:custGeom>
            <a:avLst/>
            <a:gdLst/>
            <a:ahLst/>
            <a:cxnLst/>
            <a:rect l="l" t="t" r="r" b="b"/>
            <a:pathLst>
              <a:path w="3943168" h="2628779">
                <a:moveTo>
                  <a:pt x="0" y="0"/>
                </a:moveTo>
                <a:lnTo>
                  <a:pt x="3943168" y="0"/>
                </a:lnTo>
                <a:lnTo>
                  <a:pt x="3943168" y="2628779"/>
                </a:lnTo>
                <a:lnTo>
                  <a:pt x="0" y="2628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3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88901" y="148849"/>
            <a:ext cx="1371779" cy="1371779"/>
          </a:xfrm>
          <a:custGeom>
            <a:avLst/>
            <a:gdLst/>
            <a:ahLst/>
            <a:cxnLst/>
            <a:rect l="l" t="t" r="r" b="b"/>
            <a:pathLst>
              <a:path w="1371779" h="1371779">
                <a:moveTo>
                  <a:pt x="0" y="0"/>
                </a:moveTo>
                <a:lnTo>
                  <a:pt x="1371778" y="0"/>
                </a:lnTo>
                <a:lnTo>
                  <a:pt x="1371778" y="1371779"/>
                </a:lnTo>
                <a:lnTo>
                  <a:pt x="0" y="1371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25435" y="-230694"/>
            <a:ext cx="12894548" cy="215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12"/>
              </a:lnSpc>
            </a:pPr>
            <a:r>
              <a:rPr lang="en-US" sz="12580" dirty="0" err="1">
                <a:solidFill>
                  <a:srgbClr val="3D611F"/>
                </a:solidFill>
                <a:latin typeface="Lora"/>
                <a:ea typeface="Lora"/>
                <a:cs typeface="Lora"/>
                <a:sym typeface="Lora"/>
              </a:rPr>
              <a:t>FarmFeed</a:t>
            </a:r>
            <a:endParaRPr lang="en-US" sz="12580" dirty="0">
              <a:solidFill>
                <a:srgbClr val="3D611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54432" y="3888421"/>
            <a:ext cx="1379136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D611F"/>
                </a:solidFill>
                <a:latin typeface="Canva Sans"/>
                <a:ea typeface="Canva Sans"/>
                <a:cs typeface="Canva Sans"/>
                <a:sym typeface="Canva Sans"/>
              </a:rPr>
              <a:t>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6288" y="4507547"/>
            <a:ext cx="12038112" cy="2039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VEDANT PANDURANG DIVATE          -MS2503</a:t>
            </a:r>
          </a:p>
          <a:p>
            <a:pPr algn="l">
              <a:lnSpc>
                <a:spcPts val="5319"/>
              </a:lnSpc>
            </a:pPr>
            <a:r>
              <a:rPr lang="en-US" sz="37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PANKAJ RAJENDRA JADHAV               -MS2509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SANIKA NIVAS </a:t>
            </a:r>
            <a:r>
              <a:rPr lang="en-US" sz="3799" dirty="0" smtClean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MAHIND                     -</a:t>
            </a:r>
            <a:r>
              <a:rPr lang="en-US" sz="37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MS2517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4617" y="6770529"/>
            <a:ext cx="5354985" cy="172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endParaRPr dirty="0"/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dirty="0" err="1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Ichchyakant</a:t>
            </a:r>
            <a:r>
              <a:rPr lang="en-US" sz="37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Sharma sir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799" dirty="0">
              <a:solidFill>
                <a:srgbClr val="3D611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05800" y="6770529"/>
            <a:ext cx="2153717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3D611F"/>
                </a:solidFill>
                <a:latin typeface="Canva Sans"/>
                <a:ea typeface="Canva Sans"/>
                <a:cs typeface="Canva Sans"/>
                <a:sym typeface="Canva Sans"/>
              </a:rPr>
              <a:t>Guide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8901" y="8209280"/>
            <a:ext cx="10522297" cy="204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Department of Scientific Computing Modeling and Simulation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Savitribai</a:t>
            </a:r>
            <a:r>
              <a:rPr lang="en-US" sz="28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99" dirty="0" err="1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Phule</a:t>
            </a:r>
            <a:r>
              <a:rPr lang="en-US" sz="28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Pune </a:t>
            </a:r>
            <a:r>
              <a:rPr lang="en-US" sz="2899" dirty="0" err="1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University,Pune</a:t>
            </a:r>
            <a:endParaRPr lang="en-US" sz="2899" dirty="0">
              <a:solidFill>
                <a:srgbClr val="3D61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Date: 20 December 2025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dirty="0">
              <a:solidFill>
                <a:srgbClr val="3D611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37058" y="-1936181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812394" y="7529121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688146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593955" y="3195889"/>
            <a:ext cx="4933126" cy="5246370"/>
            <a:chOff x="0" y="0"/>
            <a:chExt cx="76427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4270" cy="812800"/>
            </a:xfrm>
            <a:custGeom>
              <a:avLst/>
              <a:gdLst/>
              <a:ahLst/>
              <a:cxnLst/>
              <a:rect l="l" t="t" r="r" b="b"/>
              <a:pathLst>
                <a:path w="764270" h="812800">
                  <a:moveTo>
                    <a:pt x="34526" y="0"/>
                  </a:moveTo>
                  <a:lnTo>
                    <a:pt x="729744" y="0"/>
                  </a:lnTo>
                  <a:cubicBezTo>
                    <a:pt x="738901" y="0"/>
                    <a:pt x="747683" y="3638"/>
                    <a:pt x="754158" y="10112"/>
                  </a:cubicBezTo>
                  <a:cubicBezTo>
                    <a:pt x="760633" y="16587"/>
                    <a:pt x="764270" y="25369"/>
                    <a:pt x="764270" y="34526"/>
                  </a:cubicBezTo>
                  <a:lnTo>
                    <a:pt x="764270" y="778274"/>
                  </a:lnTo>
                  <a:cubicBezTo>
                    <a:pt x="764270" y="787431"/>
                    <a:pt x="760633" y="796213"/>
                    <a:pt x="754158" y="802687"/>
                  </a:cubicBezTo>
                  <a:cubicBezTo>
                    <a:pt x="747683" y="809162"/>
                    <a:pt x="738901" y="812800"/>
                    <a:pt x="729744" y="812800"/>
                  </a:cubicBezTo>
                  <a:lnTo>
                    <a:pt x="34526" y="812800"/>
                  </a:lnTo>
                  <a:cubicBezTo>
                    <a:pt x="25369" y="812800"/>
                    <a:pt x="16587" y="809162"/>
                    <a:pt x="10112" y="802687"/>
                  </a:cubicBezTo>
                  <a:cubicBezTo>
                    <a:pt x="3638" y="796213"/>
                    <a:pt x="0" y="787431"/>
                    <a:pt x="0" y="778274"/>
                  </a:cubicBezTo>
                  <a:lnTo>
                    <a:pt x="0" y="34526"/>
                  </a:lnTo>
                  <a:cubicBezTo>
                    <a:pt x="0" y="25369"/>
                    <a:pt x="3638" y="16587"/>
                    <a:pt x="10112" y="10112"/>
                  </a:cubicBezTo>
                  <a:cubicBezTo>
                    <a:pt x="16587" y="3638"/>
                    <a:pt x="25369" y="0"/>
                    <a:pt x="34526" y="0"/>
                  </a:cubicBezTo>
                  <a:close/>
                </a:path>
              </a:pathLst>
            </a:custGeom>
            <a:blipFill>
              <a:blip r:embed="rId3"/>
              <a:stretch>
                <a:fillRect l="-29762" r="-2976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5959343" y="2867660"/>
            <a:ext cx="11299957" cy="8502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6745" lvl="1" indent="-393373" algn="just">
              <a:lnSpc>
                <a:spcPts val="5101"/>
              </a:lnSpc>
              <a:buFont typeface="Arial"/>
              <a:buChar char="•"/>
            </a:pPr>
            <a:r>
              <a:rPr lang="en-US" sz="3644" dirty="0" err="1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FarmFeed</a:t>
            </a:r>
            <a:r>
              <a:rPr lang="en-US" sz="3644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 is an online platform that connects farmers and shopkeepers.</a:t>
            </a:r>
          </a:p>
          <a:p>
            <a:pPr algn="just">
              <a:lnSpc>
                <a:spcPts val="5101"/>
              </a:lnSpc>
            </a:pPr>
            <a:endParaRPr lang="en-US" sz="364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86745" lvl="1" indent="-393373" algn="just">
              <a:lnSpc>
                <a:spcPts val="5101"/>
              </a:lnSpc>
              <a:buFont typeface="Arial"/>
              <a:buChar char="•"/>
            </a:pPr>
            <a:r>
              <a:rPr lang="en-US" sz="3644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Farmers can search and order fertilizers online, while shopkeepers manage products and orders </a:t>
            </a:r>
            <a:r>
              <a:rPr lang="en-US" sz="3644" dirty="0" smtClean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digitally.</a:t>
            </a:r>
          </a:p>
          <a:p>
            <a:pPr marL="393372" lvl="1" algn="just">
              <a:lnSpc>
                <a:spcPts val="5101"/>
              </a:lnSpc>
            </a:pPr>
            <a:endParaRPr lang="en-US" sz="3644" dirty="0" smtClean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86745" lvl="1" indent="-393373" algn="just">
              <a:lnSpc>
                <a:spcPts val="5101"/>
              </a:lnSpc>
              <a:buFont typeface="Arial"/>
              <a:buChar char="•"/>
            </a:pPr>
            <a:r>
              <a:rPr lang="en-US" sz="4000" dirty="0" smtClean="0">
                <a:solidFill>
                  <a:srgbClr val="3D6115"/>
                </a:solidFill>
              </a:rPr>
              <a:t>The </a:t>
            </a:r>
            <a:r>
              <a:rPr lang="en-US" sz="4000" dirty="0">
                <a:solidFill>
                  <a:srgbClr val="3D6115"/>
                </a:solidFill>
              </a:rPr>
              <a:t>platform reduces manual work and makes fertilizer buying simple and fast</a:t>
            </a:r>
            <a:r>
              <a:rPr lang="en-US" sz="4000" dirty="0" smtClean="0">
                <a:solidFill>
                  <a:srgbClr val="3D6115"/>
                </a:solidFill>
              </a:rPr>
              <a:t>.</a:t>
            </a:r>
            <a:endParaRPr lang="en-US" sz="3644" dirty="0">
              <a:solidFill>
                <a:srgbClr val="3D6115"/>
              </a:solidFill>
              <a:latin typeface="Heebo"/>
              <a:ea typeface="Heebo"/>
              <a:cs typeface="Heebo"/>
              <a:sym typeface="Heebo"/>
            </a:endParaRPr>
          </a:p>
          <a:p>
            <a:pPr algn="just">
              <a:lnSpc>
                <a:spcPts val="5101"/>
              </a:lnSpc>
            </a:pPr>
            <a:endParaRPr lang="en-US" sz="364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algn="just">
              <a:lnSpc>
                <a:spcPts val="5101"/>
              </a:lnSpc>
            </a:pPr>
            <a:endParaRPr lang="en-US" sz="364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algn="just">
              <a:lnSpc>
                <a:spcPts val="5101"/>
              </a:lnSpc>
            </a:pPr>
            <a:endParaRPr lang="en-US" sz="364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algn="just">
              <a:lnSpc>
                <a:spcPts val="5101"/>
              </a:lnSpc>
            </a:pPr>
            <a:endParaRPr lang="en-US" sz="364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34914" y="1145578"/>
            <a:ext cx="9705285" cy="162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732"/>
              </a:lnSpc>
            </a:pPr>
            <a:r>
              <a:rPr lang="en-US" sz="9094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INTRODUCTION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614064" y="7365546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5688146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-551365" y="3521807"/>
            <a:ext cx="7192832" cy="4027986"/>
          </a:xfrm>
          <a:custGeom>
            <a:avLst/>
            <a:gdLst/>
            <a:ahLst/>
            <a:cxnLst/>
            <a:rect l="l" t="t" r="r" b="b"/>
            <a:pathLst>
              <a:path w="7192832" h="4027986">
                <a:moveTo>
                  <a:pt x="0" y="0"/>
                </a:moveTo>
                <a:lnTo>
                  <a:pt x="7192832" y="0"/>
                </a:lnTo>
                <a:lnTo>
                  <a:pt x="7192832" y="4027986"/>
                </a:lnTo>
                <a:lnTo>
                  <a:pt x="0" y="402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69347" y="1145578"/>
            <a:ext cx="8843048" cy="155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32"/>
              </a:lnSpc>
            </a:pPr>
            <a:r>
              <a:rPr lang="en-US" sz="9094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PROBLEM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5518" y="2833650"/>
            <a:ext cx="12282482" cy="62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399" lvl="1" indent="-378200" algn="l">
              <a:lnSpc>
                <a:spcPts val="4904"/>
              </a:lnSpc>
              <a:buFont typeface="Arial"/>
              <a:buChar char="•"/>
            </a:pPr>
            <a:r>
              <a:rPr lang="en-US" sz="3503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Farmers find it difficult to get the right fertilizer at </a:t>
            </a:r>
            <a:r>
              <a:rPr lang="en-US" sz="3503" dirty="0" smtClean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the  </a:t>
            </a:r>
            <a:r>
              <a:rPr lang="en-US" sz="3503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right time.</a:t>
            </a:r>
          </a:p>
          <a:p>
            <a:pPr algn="l">
              <a:lnSpc>
                <a:spcPts val="4904"/>
              </a:lnSpc>
            </a:pPr>
            <a:endParaRPr lang="en-US" sz="3503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6399" lvl="1" indent="-378200" algn="l">
              <a:lnSpc>
                <a:spcPts val="4904"/>
              </a:lnSpc>
              <a:buFont typeface="Arial"/>
              <a:buChar char="•"/>
            </a:pPr>
            <a:r>
              <a:rPr lang="en-US" sz="3503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Many farmers need to travel long distances to local shops, which wastes time and money.</a:t>
            </a:r>
          </a:p>
          <a:p>
            <a:pPr algn="l">
              <a:lnSpc>
                <a:spcPts val="4904"/>
              </a:lnSpc>
            </a:pPr>
            <a:endParaRPr lang="en-US" sz="3503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6399" lvl="1" indent="-378200" algn="l">
              <a:lnSpc>
                <a:spcPts val="4904"/>
              </a:lnSpc>
              <a:buFont typeface="Arial"/>
              <a:buChar char="•"/>
            </a:pPr>
            <a:r>
              <a:rPr lang="en-US" sz="3503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Fertilizer prices and availability are not clear, so farmers cannot easily compare products.</a:t>
            </a:r>
          </a:p>
          <a:p>
            <a:pPr algn="l">
              <a:lnSpc>
                <a:spcPts val="4904"/>
              </a:lnSpc>
            </a:pPr>
            <a:endParaRPr lang="en-US" sz="3503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algn="l">
              <a:lnSpc>
                <a:spcPts val="4904"/>
              </a:lnSpc>
            </a:pPr>
            <a:endParaRPr lang="en-US" sz="3503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37058" y="-1794510"/>
            <a:ext cx="6842760" cy="5132070"/>
            <a:chOff x="0" y="0"/>
            <a:chExt cx="812800" cy="609600"/>
          </a:xfrm>
        </p:grpSpPr>
        <p:sp>
          <p:nvSpPr>
            <p:cNvPr id="19" name="Freeform 19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7359" t="-103054" r="-7359" b="-10305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255729" y="-1775460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91232" y="7314166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688146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658829" y="3222589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69347" y="1145578"/>
            <a:ext cx="8843048" cy="155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32"/>
              </a:lnSpc>
            </a:pPr>
            <a:r>
              <a:rPr lang="en-US" sz="9094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OBJECTIVE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27082" y="2853436"/>
            <a:ext cx="12599854" cy="5700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467" lvl="1" indent="-388233" algn="l">
              <a:lnSpc>
                <a:spcPts val="5034"/>
              </a:lnSpc>
              <a:buFont typeface="Arial"/>
              <a:buChar char="•"/>
            </a:pPr>
            <a:r>
              <a:rPr lang="en-US" sz="3596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To make fertilizer buying easy for farmers using an online platform.</a:t>
            </a:r>
          </a:p>
          <a:p>
            <a:pPr algn="l">
              <a:lnSpc>
                <a:spcPts val="5034"/>
              </a:lnSpc>
            </a:pPr>
            <a:endParaRPr lang="en-US" sz="3596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76467" lvl="1" indent="-388233" algn="l">
              <a:lnSpc>
                <a:spcPts val="5034"/>
              </a:lnSpc>
              <a:buFont typeface="Arial"/>
              <a:buChar char="•"/>
            </a:pPr>
            <a:r>
              <a:rPr lang="en-US" sz="3596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To save farmers time and travel cost by allowing online ordering from home.</a:t>
            </a:r>
          </a:p>
          <a:p>
            <a:pPr algn="l">
              <a:lnSpc>
                <a:spcPts val="5034"/>
              </a:lnSpc>
            </a:pPr>
            <a:endParaRPr lang="en-US" sz="3596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76467" lvl="1" indent="-388233" algn="l">
              <a:lnSpc>
                <a:spcPts val="5034"/>
              </a:lnSpc>
              <a:buFont typeface="Arial"/>
              <a:buChar char="•"/>
            </a:pPr>
            <a:r>
              <a:rPr lang="en-US" sz="3596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To provide clear fertilizer details, prices, and availability in one place.</a:t>
            </a:r>
          </a:p>
          <a:p>
            <a:pPr algn="l">
              <a:lnSpc>
                <a:spcPts val="5034"/>
              </a:lnSpc>
            </a:pPr>
            <a:endParaRPr lang="en-US" sz="3596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470685" y="-1794510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21940" y="7068502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688146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028700" y="2872548"/>
            <a:ext cx="4680017" cy="4680017"/>
          </a:xfrm>
          <a:custGeom>
            <a:avLst/>
            <a:gdLst/>
            <a:ahLst/>
            <a:cxnLst/>
            <a:rect l="l" t="t" r="r" b="b"/>
            <a:pathLst>
              <a:path w="4680017" h="4680017">
                <a:moveTo>
                  <a:pt x="0" y="0"/>
                </a:moveTo>
                <a:lnTo>
                  <a:pt x="4680017" y="0"/>
                </a:lnTo>
                <a:lnTo>
                  <a:pt x="4680017" y="4680017"/>
                </a:lnTo>
                <a:lnTo>
                  <a:pt x="0" y="468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44029" y="2715327"/>
            <a:ext cx="11215271" cy="555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Farmers can search, compare, and order fertilizers online.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Shopkeepers can manage products, stock, and orders digitally.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The system supports order tracking and delivery updates.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47522" y="1091459"/>
            <a:ext cx="6486253" cy="155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32"/>
              </a:lnSpc>
            </a:pPr>
            <a:r>
              <a:rPr lang="en-US" sz="9094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SOLUTION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32898" y="-1537335"/>
            <a:ext cx="6842760" cy="5132070"/>
            <a:chOff x="0" y="0"/>
            <a:chExt cx="812800" cy="609600"/>
          </a:xfrm>
        </p:grpSpPr>
        <p:sp>
          <p:nvSpPr>
            <p:cNvPr id="3" name="Freeform 3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12394" y="7068502"/>
            <a:ext cx="6842760" cy="5132070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9" name="Freeform 9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2" name="Freeform 12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5688146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3693584" y="1145578"/>
            <a:ext cx="11253141" cy="155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32"/>
              </a:lnSpc>
            </a:pPr>
            <a:r>
              <a:rPr lang="en-US" sz="9094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USER MODULES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3231" y="4241789"/>
            <a:ext cx="10121442" cy="308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710" lvl="1" indent="-378355" algn="l">
              <a:lnSpc>
                <a:spcPts val="4906"/>
              </a:lnSpc>
              <a:buFont typeface="Arial"/>
              <a:buChar char="•"/>
            </a:pPr>
            <a:r>
              <a:rPr lang="en-US" sz="3504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Register with shop and license details.</a:t>
            </a:r>
          </a:p>
          <a:p>
            <a:pPr algn="l">
              <a:lnSpc>
                <a:spcPts val="4906"/>
              </a:lnSpc>
            </a:pPr>
            <a:endParaRPr lang="en-US" sz="350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6710" lvl="1" indent="-378355" algn="l">
              <a:lnSpc>
                <a:spcPts val="4906"/>
              </a:lnSpc>
              <a:buFont typeface="Arial"/>
              <a:buChar char="•"/>
            </a:pPr>
            <a:r>
              <a:rPr lang="en-US" sz="3504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Add, update, and manage fertilizer products</a:t>
            </a:r>
          </a:p>
          <a:p>
            <a:pPr algn="l">
              <a:lnSpc>
                <a:spcPts val="4906"/>
              </a:lnSpc>
            </a:pPr>
            <a:endParaRPr lang="en-US" sz="3504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6710" lvl="1" indent="-378355" algn="l">
              <a:lnSpc>
                <a:spcPts val="4906"/>
              </a:lnSpc>
              <a:buFont typeface="Arial"/>
              <a:buChar char="•"/>
            </a:pPr>
            <a:r>
              <a:rPr lang="en-US" sz="3504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Accept or reject orders and manage stock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3632127"/>
            <a:ext cx="9144000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endParaRPr dirty="0"/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Register and log in to the system</a:t>
            </a:r>
          </a:p>
          <a:p>
            <a:pPr algn="l">
              <a:lnSpc>
                <a:spcPts val="4899"/>
              </a:lnSpc>
            </a:pPr>
            <a:endParaRPr lang="en-US" sz="3499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Search and view fertilizers with </a:t>
            </a:r>
          </a:p>
          <a:p>
            <a:pPr algn="l">
              <a:lnSpc>
                <a:spcPts val="4899"/>
              </a:lnSpc>
            </a:pPr>
            <a:endParaRPr lang="en-US" sz="3499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Place orders and track delivery status</a:t>
            </a:r>
          </a:p>
          <a:p>
            <a:pPr algn="ctr">
              <a:lnSpc>
                <a:spcPts val="4899"/>
              </a:lnSpc>
            </a:pPr>
            <a:endParaRPr lang="en-US" sz="3499" dirty="0">
              <a:solidFill>
                <a:srgbClr val="3D611F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91888" y="3007359"/>
            <a:ext cx="3396258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3D6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Farmer Module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6589" y="2997834"/>
            <a:ext cx="6556325" cy="59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b="1" dirty="0">
                <a:solidFill>
                  <a:srgbClr val="3D6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Shopkeeper (Vendor) Module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8383231" y="3698802"/>
            <a:ext cx="0" cy="4966461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94275" y="-1537335"/>
            <a:ext cx="6842760" cy="5132070"/>
            <a:chOff x="0" y="0"/>
            <a:chExt cx="812800" cy="609600"/>
          </a:xfrm>
        </p:grpSpPr>
        <p:sp>
          <p:nvSpPr>
            <p:cNvPr id="3" name="Freeform 3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51900" y="7544431"/>
            <a:ext cx="6842760" cy="5132070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9" name="Freeform 9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2" name="Freeform 12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5688146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2857292" y="6520679"/>
            <a:ext cx="1644762" cy="0"/>
          </a:xfrm>
          <a:prstGeom prst="line">
            <a:avLst/>
          </a:prstGeom>
          <a:ln w="85725" cap="flat">
            <a:solidFill>
              <a:srgbClr val="C2BF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7" name="AutoShape 17"/>
          <p:cNvSpPr/>
          <p:nvPr/>
        </p:nvSpPr>
        <p:spPr>
          <a:xfrm>
            <a:off x="2857292" y="7313795"/>
            <a:ext cx="1644762" cy="0"/>
          </a:xfrm>
          <a:prstGeom prst="line">
            <a:avLst/>
          </a:prstGeom>
          <a:ln w="85725" cap="flat">
            <a:solidFill>
              <a:srgbClr val="C2BFBF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4655514" y="5797732"/>
            <a:ext cx="3014800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 err="1">
                <a:solidFill>
                  <a:srgbClr val="5B8C32"/>
                </a:solidFill>
                <a:latin typeface="Open Sans"/>
                <a:ea typeface="Open Sans"/>
                <a:cs typeface="Open Sans"/>
                <a:sym typeface="Open Sans"/>
              </a:rPr>
              <a:t>Databace</a:t>
            </a:r>
            <a:r>
              <a:rPr lang="en-US" sz="4200" dirty="0">
                <a:solidFill>
                  <a:srgbClr val="5B8C32"/>
                </a:solidFill>
                <a:latin typeface="Open Sans"/>
                <a:ea typeface="Open Sans"/>
                <a:cs typeface="Open Sans"/>
                <a:sym typeface="Open Sans"/>
              </a:rPr>
              <a:t> MySQL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339239" y="6361936"/>
            <a:ext cx="1439834" cy="42862"/>
          </a:xfrm>
          <a:prstGeom prst="line">
            <a:avLst/>
          </a:prstGeom>
          <a:ln w="85725" cap="flat">
            <a:solidFill>
              <a:srgbClr val="C2BFB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8339315" y="7042225"/>
            <a:ext cx="1274345" cy="16645"/>
          </a:xfrm>
          <a:prstGeom prst="line">
            <a:avLst/>
          </a:prstGeom>
          <a:ln w="85725" cap="flat">
            <a:solidFill>
              <a:srgbClr val="C2BFBF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582045" y="4540702"/>
            <a:ext cx="1425334" cy="1267252"/>
          </a:xfrm>
          <a:custGeom>
            <a:avLst/>
            <a:gdLst/>
            <a:ahLst/>
            <a:cxnLst/>
            <a:rect l="l" t="t" r="r" b="b"/>
            <a:pathLst>
              <a:path w="1425334" h="1267252">
                <a:moveTo>
                  <a:pt x="0" y="0"/>
                </a:moveTo>
                <a:lnTo>
                  <a:pt x="1425335" y="0"/>
                </a:lnTo>
                <a:lnTo>
                  <a:pt x="1425335" y="1267252"/>
                </a:lnTo>
                <a:lnTo>
                  <a:pt x="0" y="126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>
            <a:off x="13271225" y="6325446"/>
            <a:ext cx="1453203" cy="30118"/>
          </a:xfrm>
          <a:prstGeom prst="line">
            <a:avLst/>
          </a:prstGeom>
          <a:ln w="85725" cap="flat">
            <a:solidFill>
              <a:srgbClr val="C2BFB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AutoShape 23"/>
          <p:cNvSpPr/>
          <p:nvPr/>
        </p:nvSpPr>
        <p:spPr>
          <a:xfrm>
            <a:off x="13271385" y="7042225"/>
            <a:ext cx="1384129" cy="16645"/>
          </a:xfrm>
          <a:prstGeom prst="line">
            <a:avLst/>
          </a:prstGeom>
          <a:ln w="85725" cap="flat">
            <a:solidFill>
              <a:srgbClr val="C2BFBF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11116569" y="4494391"/>
            <a:ext cx="608982" cy="1298217"/>
          </a:xfrm>
          <a:custGeom>
            <a:avLst/>
            <a:gdLst/>
            <a:ahLst/>
            <a:cxnLst/>
            <a:rect l="l" t="t" r="r" b="b"/>
            <a:pathLst>
              <a:path w="608982" h="1298217">
                <a:moveTo>
                  <a:pt x="0" y="0"/>
                </a:moveTo>
                <a:lnTo>
                  <a:pt x="608982" y="0"/>
                </a:lnTo>
                <a:lnTo>
                  <a:pt x="608982" y="1298218"/>
                </a:lnTo>
                <a:lnTo>
                  <a:pt x="0" y="1298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4724268" y="4149656"/>
            <a:ext cx="2719551" cy="1429000"/>
          </a:xfrm>
          <a:custGeom>
            <a:avLst/>
            <a:gdLst/>
            <a:ahLst/>
            <a:cxnLst/>
            <a:rect l="l" t="t" r="r" b="b"/>
            <a:pathLst>
              <a:path w="2719551" h="1429000">
                <a:moveTo>
                  <a:pt x="0" y="0"/>
                </a:moveTo>
                <a:lnTo>
                  <a:pt x="2719551" y="0"/>
                </a:lnTo>
                <a:lnTo>
                  <a:pt x="2719551" y="1429001"/>
                </a:lnTo>
                <a:lnTo>
                  <a:pt x="0" y="142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688146" y="4149656"/>
            <a:ext cx="1311056" cy="1872937"/>
          </a:xfrm>
          <a:custGeom>
            <a:avLst/>
            <a:gdLst/>
            <a:ahLst/>
            <a:cxnLst/>
            <a:rect l="l" t="t" r="r" b="b"/>
            <a:pathLst>
              <a:path w="1311056" h="1872937">
                <a:moveTo>
                  <a:pt x="0" y="0"/>
                </a:moveTo>
                <a:lnTo>
                  <a:pt x="1311055" y="0"/>
                </a:lnTo>
                <a:lnTo>
                  <a:pt x="1311055" y="1872937"/>
                </a:lnTo>
                <a:lnTo>
                  <a:pt x="0" y="18729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0" y="5945771"/>
            <a:ext cx="2857292" cy="219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 dirty="0">
                <a:solidFill>
                  <a:srgbClr val="5B8C32"/>
                </a:solidFill>
                <a:latin typeface="Heebo"/>
                <a:ea typeface="Heebo"/>
                <a:cs typeface="Heebo"/>
                <a:sym typeface="Heebo"/>
              </a:rPr>
              <a:t>website view </a:t>
            </a:r>
            <a:endParaRPr lang="en-US" sz="4100" dirty="0" smtClean="0">
              <a:solidFill>
                <a:srgbClr val="5B8C32"/>
              </a:solidFill>
              <a:latin typeface="Heebo"/>
              <a:ea typeface="Heebo"/>
              <a:cs typeface="Heebo"/>
              <a:sym typeface="Heebo"/>
            </a:endParaRPr>
          </a:p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 dirty="0" smtClean="0">
                <a:solidFill>
                  <a:srgbClr val="5B8C32"/>
                </a:solidFill>
                <a:latin typeface="Heebo"/>
                <a:ea typeface="Heebo"/>
                <a:cs typeface="Heebo"/>
                <a:sym typeface="Heebo"/>
              </a:rPr>
              <a:t>Browser</a:t>
            </a:r>
            <a:endParaRPr lang="en-US" sz="4100" dirty="0">
              <a:solidFill>
                <a:srgbClr val="5B8C3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805891" y="6022593"/>
            <a:ext cx="3075565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dirty="0" err="1" smtClean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 lang="en-US" sz="4099" dirty="0" smtClean="0">
              <a:solidFill>
                <a:srgbClr val="3D61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dirty="0" smtClean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Java Script </a:t>
            </a:r>
            <a:endParaRPr lang="en-US" sz="4099" dirty="0">
              <a:solidFill>
                <a:srgbClr val="3D611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 rot="15938">
            <a:off x="9856880" y="5953639"/>
            <a:ext cx="3128714" cy="136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4"/>
              </a:lnSpc>
              <a:spcBef>
                <a:spcPct val="0"/>
              </a:spcBef>
            </a:pPr>
            <a:r>
              <a:rPr lang="en-US" sz="3917" dirty="0" err="1">
                <a:solidFill>
                  <a:srgbClr val="5B8C32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-US" sz="3917" dirty="0">
                <a:solidFill>
                  <a:srgbClr val="5B8C32"/>
                </a:solidFill>
                <a:latin typeface="Open Sans"/>
                <a:ea typeface="Open Sans"/>
                <a:cs typeface="Open Sans"/>
                <a:sym typeface="Open Sans"/>
              </a:rPr>
              <a:t>  Spring Boot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134339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39238" y="4962842"/>
            <a:ext cx="95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5963638" y="1229602"/>
            <a:ext cx="9428761" cy="152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726"/>
              </a:lnSpc>
            </a:pPr>
            <a:r>
              <a:rPr lang="en-IN" sz="9090" b="1" dirty="0" smtClean="0">
                <a:solidFill>
                  <a:srgbClr val="3D611F"/>
                </a:solidFill>
              </a:rPr>
              <a:t>TECHNOLOGY</a:t>
            </a:r>
            <a:endParaRPr lang="en-US" sz="9090" b="1" dirty="0">
              <a:solidFill>
                <a:srgbClr val="3D611F"/>
              </a:solidFill>
              <a:latin typeface="Emmali"/>
              <a:ea typeface="Emmali"/>
              <a:cs typeface="Emmali"/>
              <a:sym typeface="Emmal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600" y="-17119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132898" y="-1537335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21940" y="7068502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320740" y="9753047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486156" y="3124456"/>
            <a:ext cx="4609844" cy="4609844"/>
          </a:xfrm>
          <a:custGeom>
            <a:avLst/>
            <a:gdLst/>
            <a:ahLst/>
            <a:cxnLst/>
            <a:rect l="l" t="t" r="r" b="b"/>
            <a:pathLst>
              <a:path w="4609844" h="4609844">
                <a:moveTo>
                  <a:pt x="0" y="0"/>
                </a:moveTo>
                <a:lnTo>
                  <a:pt x="4609844" y="0"/>
                </a:lnTo>
                <a:lnTo>
                  <a:pt x="4609844" y="4609844"/>
                </a:lnTo>
                <a:lnTo>
                  <a:pt x="0" y="4609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TextBox 18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00718" y="3339103"/>
            <a:ext cx="776589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0343" lvl="1" indent="-375171" algn="l">
              <a:lnSpc>
                <a:spcPts val="4865"/>
              </a:lnSpc>
              <a:buFont typeface="Arial"/>
              <a:buChar char="•"/>
            </a:pPr>
            <a:r>
              <a:rPr lang="en-US" sz="3475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User  - Stores user login details    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00717" y="4453652"/>
            <a:ext cx="10677683" cy="580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6220" lvl="1" indent="-368110" algn="l">
              <a:lnSpc>
                <a:spcPts val="4774"/>
              </a:lnSpc>
              <a:buFont typeface="Arial"/>
              <a:buChar char="•"/>
            </a:pPr>
            <a:r>
              <a:rPr lang="en-US" sz="3410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Fertilizer - Contains product info, price and image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00718" y="6661547"/>
            <a:ext cx="971946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6637" lvl="1" indent="-368319" algn="l">
              <a:lnSpc>
                <a:spcPts val="4776"/>
              </a:lnSpc>
              <a:buFont typeface="Arial"/>
              <a:buChar char="•"/>
            </a:pPr>
            <a:r>
              <a:rPr lang="en-US" sz="3411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Cart - Temporary Storage for selected items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76375" y="1181100"/>
            <a:ext cx="12930326" cy="162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726"/>
              </a:lnSpc>
              <a:spcBef>
                <a:spcPct val="0"/>
              </a:spcBef>
            </a:pPr>
            <a:r>
              <a:rPr lang="en-US" sz="9090" b="1" dirty="0">
                <a:solidFill>
                  <a:srgbClr val="3D611F"/>
                </a:solidFill>
                <a:latin typeface="Emmali Bold"/>
                <a:ea typeface="Emmali Bold"/>
                <a:cs typeface="Emmali Bold"/>
                <a:sym typeface="Emmali Bold"/>
              </a:rPr>
              <a:t>DATABASE DESIGN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00717" y="5520452"/>
            <a:ext cx="986650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94" lvl="1" indent="-366747" algn="l">
              <a:lnSpc>
                <a:spcPts val="4756"/>
              </a:lnSpc>
              <a:buFont typeface="Arial"/>
              <a:buChar char="•"/>
            </a:pPr>
            <a:r>
              <a:rPr lang="en-US" sz="3397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Orders  -  Stores  customer </a:t>
            </a:r>
            <a:r>
              <a:rPr lang="en-US" sz="3397" dirty="0" smtClean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order</a:t>
            </a:r>
            <a:endParaRPr lang="en-US" sz="3397" dirty="0">
              <a:solidFill>
                <a:srgbClr val="3D611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132898" y="-1537335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21940" y="7068502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3946550" y="909638"/>
            <a:ext cx="9314331" cy="8724900"/>
          </a:xfrm>
          <a:custGeom>
            <a:avLst/>
            <a:gdLst/>
            <a:ahLst/>
            <a:cxnLst/>
            <a:rect l="l" t="t" r="r" b="b"/>
            <a:pathLst>
              <a:path w="9314331" h="8724900">
                <a:moveTo>
                  <a:pt x="0" y="0"/>
                </a:moveTo>
                <a:lnTo>
                  <a:pt x="9314331" y="0"/>
                </a:lnTo>
                <a:lnTo>
                  <a:pt x="9314331" y="8724899"/>
                </a:lnTo>
                <a:lnTo>
                  <a:pt x="0" y="8724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1" r="-69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53286" y="216497"/>
            <a:ext cx="452951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3D6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ER-DIAGRAM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305" y="-403429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132898" y="-1537335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21940" y="7068502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193093" y="9697549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2249744" y="2358415"/>
            <a:ext cx="3859972" cy="3859972"/>
          </a:xfrm>
          <a:custGeom>
            <a:avLst/>
            <a:gdLst/>
            <a:ahLst/>
            <a:cxnLst/>
            <a:rect l="l" t="t" r="r" b="b"/>
            <a:pathLst>
              <a:path w="3859972" h="3859972">
                <a:moveTo>
                  <a:pt x="0" y="0"/>
                </a:moveTo>
                <a:lnTo>
                  <a:pt x="3859972" y="0"/>
                </a:lnTo>
                <a:lnTo>
                  <a:pt x="3859972" y="3859972"/>
                </a:lnTo>
                <a:lnTo>
                  <a:pt x="0" y="385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85800" y="7925346"/>
            <a:ext cx="14545962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 dirty="0" err="1" smtClean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FarmFeed</a:t>
            </a:r>
            <a:r>
              <a:rPr lang="en-US" sz="3499" dirty="0" smtClean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3499" dirty="0">
                <a:solidFill>
                  <a:srgbClr val="3D611F"/>
                </a:solidFill>
                <a:latin typeface="Heebo"/>
                <a:ea typeface="Heebo"/>
                <a:cs typeface="Heebo"/>
                <a:sym typeface="Heebo"/>
              </a:rPr>
              <a:t>helps farmers order fertilizers easily and manage their purchases online.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100" y="6488881"/>
            <a:ext cx="7503392" cy="1397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69"/>
              </a:lnSpc>
            </a:pPr>
            <a:r>
              <a:rPr lang="en-US" sz="6000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CONCLUSION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62914" y="130772"/>
            <a:ext cx="1096386" cy="118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0"/>
              </a:lnSpc>
            </a:pPr>
            <a:r>
              <a:rPr lang="en-US" sz="6921" b="1">
                <a:solidFill>
                  <a:srgbClr val="3D611F">
                    <a:alpha val="25882"/>
                  </a:srgbClr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08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29946" y="3406136"/>
            <a:ext cx="3409950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Order Tracking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93293" y="4250689"/>
            <a:ext cx="5132863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Delivery Partner Module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77793" y="5065586"/>
            <a:ext cx="5148363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Admin Module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77793" y="2620397"/>
            <a:ext cx="6924207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Online Payment Integration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27275" y="1050093"/>
            <a:ext cx="13063242" cy="1397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99"/>
              </a:lnSpc>
              <a:spcBef>
                <a:spcPct val="0"/>
              </a:spcBef>
            </a:pPr>
            <a:r>
              <a:rPr lang="en-US" sz="7785" b="1" dirty="0">
                <a:solidFill>
                  <a:srgbClr val="3D611F"/>
                </a:solidFill>
                <a:latin typeface="Emmali Bold"/>
                <a:ea typeface="Emmali Bold"/>
                <a:cs typeface="Emmali Bold"/>
                <a:sym typeface="Emmali Bold"/>
              </a:rPr>
              <a:t>FUTUER ENCHANCEMENT 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77793" y="5927089"/>
            <a:ext cx="4283869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3D611F"/>
                </a:solidFill>
                <a:latin typeface="Open Sans"/>
                <a:ea typeface="Open Sans"/>
                <a:cs typeface="Open Sans"/>
                <a:sym typeface="Open Sans"/>
              </a:rPr>
              <a:t>Develop as an  App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132898" y="-1537335"/>
            <a:ext cx="6842760" cy="5132070"/>
            <a:chOff x="0" y="0"/>
            <a:chExt cx="812800" cy="609600"/>
          </a:xfrm>
        </p:grpSpPr>
        <p:sp>
          <p:nvSpPr>
            <p:cNvPr id="4" name="Freeform 4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21940" y="7068502"/>
            <a:ext cx="6842760" cy="51320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5590" y="0"/>
              <a:ext cx="761620" cy="609600"/>
            </a:xfrm>
            <a:custGeom>
              <a:avLst/>
              <a:gdLst/>
              <a:ahLst/>
              <a:cxnLst/>
              <a:rect l="l" t="t" r="r" b="b"/>
              <a:pathLst>
                <a:path w="761620" h="609600">
                  <a:moveTo>
                    <a:pt x="269254" y="0"/>
                  </a:moveTo>
                  <a:lnTo>
                    <a:pt x="695566" y="0"/>
                  </a:lnTo>
                  <a:cubicBezTo>
                    <a:pt x="716799" y="0"/>
                    <a:pt x="736737" y="10207"/>
                    <a:pt x="749151" y="27431"/>
                  </a:cubicBezTo>
                  <a:cubicBezTo>
                    <a:pt x="761566" y="44656"/>
                    <a:pt x="764944" y="66798"/>
                    <a:pt x="758230" y="86941"/>
                  </a:cubicBezTo>
                  <a:lnTo>
                    <a:pt x="612990" y="522659"/>
                  </a:lnTo>
                  <a:cubicBezTo>
                    <a:pt x="595684" y="574579"/>
                    <a:pt x="547095" y="609600"/>
                    <a:pt x="492366" y="609600"/>
                  </a:cubicBezTo>
                  <a:lnTo>
                    <a:pt x="66054" y="609600"/>
                  </a:lnTo>
                  <a:cubicBezTo>
                    <a:pt x="44821" y="609600"/>
                    <a:pt x="24883" y="599393"/>
                    <a:pt x="12469" y="582169"/>
                  </a:cubicBezTo>
                  <a:cubicBezTo>
                    <a:pt x="54" y="564944"/>
                    <a:pt x="-3324" y="542802"/>
                    <a:pt x="3390" y="522659"/>
                  </a:cubicBezTo>
                  <a:lnTo>
                    <a:pt x="148630" y="86941"/>
                  </a:lnTo>
                  <a:cubicBezTo>
                    <a:pt x="165936" y="35021"/>
                    <a:pt x="214525" y="0"/>
                    <a:pt x="269254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05702" y="-4341495"/>
            <a:ext cx="6842760" cy="51320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7EBD4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0154" y="9634537"/>
            <a:ext cx="6842760" cy="51320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10742" y="0"/>
              <a:ext cx="791317" cy="609600"/>
            </a:xfrm>
            <a:custGeom>
              <a:avLst/>
              <a:gdLst/>
              <a:ahLst/>
              <a:cxnLst/>
              <a:rect l="l" t="t" r="r" b="b"/>
              <a:pathLst>
                <a:path w="791317" h="609600">
                  <a:moveTo>
                    <a:pt x="230926" y="0"/>
                  </a:moveTo>
                  <a:lnTo>
                    <a:pt x="763590" y="0"/>
                  </a:lnTo>
                  <a:cubicBezTo>
                    <a:pt x="772503" y="0"/>
                    <a:pt x="780872" y="4284"/>
                    <a:pt x="786083" y="11514"/>
                  </a:cubicBezTo>
                  <a:cubicBezTo>
                    <a:pt x="791294" y="18744"/>
                    <a:pt x="792712" y="28039"/>
                    <a:pt x="789893" y="36494"/>
                  </a:cubicBezTo>
                  <a:lnTo>
                    <a:pt x="611023" y="573106"/>
                  </a:lnTo>
                  <a:cubicBezTo>
                    <a:pt x="603758" y="594900"/>
                    <a:pt x="583363" y="609600"/>
                    <a:pt x="560390" y="609600"/>
                  </a:cubicBezTo>
                  <a:lnTo>
                    <a:pt x="27726" y="609600"/>
                  </a:lnTo>
                  <a:cubicBezTo>
                    <a:pt x="18813" y="609600"/>
                    <a:pt x="10444" y="605316"/>
                    <a:pt x="5233" y="598086"/>
                  </a:cubicBezTo>
                  <a:cubicBezTo>
                    <a:pt x="22" y="590856"/>
                    <a:pt x="-1396" y="581561"/>
                    <a:pt x="1423" y="573106"/>
                  </a:cubicBezTo>
                  <a:lnTo>
                    <a:pt x="180293" y="36494"/>
                  </a:lnTo>
                  <a:cubicBezTo>
                    <a:pt x="187558" y="14700"/>
                    <a:pt x="207953" y="0"/>
                    <a:pt x="230926" y="0"/>
                  </a:cubicBezTo>
                  <a:close/>
                </a:path>
              </a:pathLst>
            </a:custGeom>
            <a:solidFill>
              <a:srgbClr val="5B8C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696726" y="3950718"/>
            <a:ext cx="12894548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12"/>
              </a:lnSpc>
            </a:pPr>
            <a:r>
              <a:rPr lang="en-US" sz="12580" b="1" dirty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THANK </a:t>
            </a:r>
            <a:r>
              <a:rPr lang="en-US" sz="12580" b="1" dirty="0" smtClean="0">
                <a:solidFill>
                  <a:srgbClr val="3D611F"/>
                </a:solidFill>
                <a:latin typeface="Emmali Semi-Bold"/>
                <a:ea typeface="Emmali Semi-Bold"/>
                <a:cs typeface="Emmali Semi-Bold"/>
                <a:sym typeface="Emmali Semi-Bold"/>
              </a:rPr>
              <a:t>YOU…!</a:t>
            </a:r>
            <a:endParaRPr lang="en-US" sz="12580" b="1" dirty="0">
              <a:solidFill>
                <a:srgbClr val="3D611F"/>
              </a:solidFill>
              <a:latin typeface="Emmali Semi-Bold"/>
              <a:ea typeface="Emmali Semi-Bold"/>
              <a:cs typeface="Emmali Semi-Bold"/>
              <a:sym typeface="Emmali Semi-Bold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320154" y="771525"/>
            <a:ext cx="6492240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560621" y="9653588"/>
            <a:ext cx="4966461" cy="0"/>
          </a:xfrm>
          <a:prstGeom prst="line">
            <a:avLst/>
          </a:prstGeom>
          <a:ln w="38100" cap="flat">
            <a:solidFill>
              <a:srgbClr val="7EBD4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334</Words>
  <Application>Microsoft Office PowerPoint</Application>
  <PresentationFormat>Custom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Lora</vt:lpstr>
      <vt:lpstr>Emmali</vt:lpstr>
      <vt:lpstr>Open Sans Bold</vt:lpstr>
      <vt:lpstr>Heebo</vt:lpstr>
      <vt:lpstr>Calibri</vt:lpstr>
      <vt:lpstr>Canva Sans</vt:lpstr>
      <vt:lpstr>Emmali Semi-Bold</vt:lpstr>
      <vt:lpstr>Open Sans</vt:lpstr>
      <vt:lpstr>Emmali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FarmFeed-Dse</dc:title>
  <cp:lastModifiedBy>Dell</cp:lastModifiedBy>
  <cp:revision>16</cp:revision>
  <dcterms:created xsi:type="dcterms:W3CDTF">2006-08-16T00:00:00Z</dcterms:created>
  <dcterms:modified xsi:type="dcterms:W3CDTF">2025-12-20T04:06:54Z</dcterms:modified>
  <dc:identifier>DAG7lWfioQ0</dc:identifier>
</cp:coreProperties>
</file>